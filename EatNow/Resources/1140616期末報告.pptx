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Noto Sans T Chinese" panose="020B0500000000000000" pitchFamily="34" charset="-128"/>
      <p:regular r:id="rId13"/>
    </p:embeddedFont>
    <p:embeddedFont>
      <p:font typeface="Marcellus" panose="020E0602050203020307" pitchFamily="34" charset="0"/>
      <p:regular r:id="rId14"/>
    </p:embeddedFont>
    <p:embeddedFont>
      <p:font typeface="Roboto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4" autoAdjust="0"/>
  </p:normalViewPr>
  <p:slideViewPr>
    <p:cSldViewPr>
      <p:cViewPr varScale="1">
        <p:scale>
          <a:sx n="74" d="100"/>
          <a:sy n="74" d="100"/>
        </p:scale>
        <p:origin x="6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svg"/><Relationship Id="rId7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svg"/><Relationship Id="rId7" Type="http://schemas.openxmlformats.org/officeDocument/2006/relationships/image" Target="../media/image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2.svg"/><Relationship Id="rId7" Type="http://schemas.openxmlformats.org/officeDocument/2006/relationships/image" Target="../media/image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96233" y="-206777"/>
            <a:ext cx="2163067" cy="3752955"/>
          </a:xfrm>
          <a:custGeom>
            <a:avLst/>
            <a:gdLst/>
            <a:ahLst/>
            <a:cxnLst/>
            <a:rect l="l" t="t" r="r" b="b"/>
            <a:pathLst>
              <a:path w="2163067" h="3752955">
                <a:moveTo>
                  <a:pt x="0" y="0"/>
                </a:moveTo>
                <a:lnTo>
                  <a:pt x="2163067" y="0"/>
                </a:lnTo>
                <a:lnTo>
                  <a:pt x="2163067" y="3752955"/>
                </a:lnTo>
                <a:lnTo>
                  <a:pt x="0" y="375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4239687">
            <a:off x="-1595429" y="-1178094"/>
            <a:ext cx="5248259" cy="5695590"/>
          </a:xfrm>
          <a:custGeom>
            <a:avLst/>
            <a:gdLst/>
            <a:ahLst/>
            <a:cxnLst/>
            <a:rect l="l" t="t" r="r" b="b"/>
            <a:pathLst>
              <a:path w="5248259" h="5695590">
                <a:moveTo>
                  <a:pt x="0" y="0"/>
                </a:moveTo>
                <a:lnTo>
                  <a:pt x="5248258" y="0"/>
                </a:lnTo>
                <a:lnTo>
                  <a:pt x="5248258" y="5695589"/>
                </a:lnTo>
                <a:lnTo>
                  <a:pt x="0" y="5695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-993729" y="7391295"/>
            <a:ext cx="4044858" cy="2419560"/>
          </a:xfrm>
          <a:custGeom>
            <a:avLst/>
            <a:gdLst/>
            <a:ahLst/>
            <a:cxnLst/>
            <a:rect l="l" t="t" r="r" b="b"/>
            <a:pathLst>
              <a:path w="4044858" h="2419560">
                <a:moveTo>
                  <a:pt x="0" y="0"/>
                </a:moveTo>
                <a:lnTo>
                  <a:pt x="4044858" y="0"/>
                </a:lnTo>
                <a:lnTo>
                  <a:pt x="4044858" y="2419560"/>
                </a:lnTo>
                <a:lnTo>
                  <a:pt x="0" y="2419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3544558" y="6359179"/>
            <a:ext cx="3795577" cy="2860916"/>
          </a:xfrm>
          <a:custGeom>
            <a:avLst/>
            <a:gdLst/>
            <a:ahLst/>
            <a:cxnLst/>
            <a:rect l="l" t="t" r="r" b="b"/>
            <a:pathLst>
              <a:path w="3795577" h="2860916">
                <a:moveTo>
                  <a:pt x="0" y="0"/>
                </a:moveTo>
                <a:lnTo>
                  <a:pt x="3795577" y="0"/>
                </a:lnTo>
                <a:lnTo>
                  <a:pt x="3795577" y="2860916"/>
                </a:lnTo>
                <a:lnTo>
                  <a:pt x="0" y="28609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3079370" y="4003353"/>
            <a:ext cx="1212926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美食推薦兼點餐系統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8117" y="7372245"/>
            <a:ext cx="549930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指導老師:李春雄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組長:41211147羅來恩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組員:41211121江承翰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組員:41211124石俊昇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4558" y="2318944"/>
            <a:ext cx="4191421" cy="1227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2"/>
              </a:lnSpc>
            </a:pPr>
            <a:r>
              <a:rPr lang="en-US" sz="7144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Eat Now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4549130">
            <a:off x="-1577160" y="7170126"/>
            <a:ext cx="6380533" cy="4176349"/>
          </a:xfrm>
          <a:custGeom>
            <a:avLst/>
            <a:gdLst/>
            <a:ahLst/>
            <a:cxnLst/>
            <a:rect l="l" t="t" r="r" b="b"/>
            <a:pathLst>
              <a:path w="6380533" h="4176349">
                <a:moveTo>
                  <a:pt x="0" y="0"/>
                </a:moveTo>
                <a:lnTo>
                  <a:pt x="6380533" y="0"/>
                </a:lnTo>
                <a:lnTo>
                  <a:pt x="6380533" y="4176348"/>
                </a:lnTo>
                <a:lnTo>
                  <a:pt x="0" y="41763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097886">
            <a:off x="15249743" y="-867172"/>
            <a:ext cx="5162115" cy="4303651"/>
          </a:xfrm>
          <a:custGeom>
            <a:avLst/>
            <a:gdLst/>
            <a:ahLst/>
            <a:cxnLst/>
            <a:rect l="l" t="t" r="r" b="b"/>
            <a:pathLst>
              <a:path w="5162115" h="4303651">
                <a:moveTo>
                  <a:pt x="0" y="0"/>
                </a:moveTo>
                <a:lnTo>
                  <a:pt x="5162114" y="0"/>
                </a:lnTo>
                <a:lnTo>
                  <a:pt x="5162114" y="4303651"/>
                </a:lnTo>
                <a:lnTo>
                  <a:pt x="0" y="4303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5862963" y="7044708"/>
            <a:ext cx="2281153" cy="3544950"/>
          </a:xfrm>
          <a:custGeom>
            <a:avLst/>
            <a:gdLst/>
            <a:ahLst/>
            <a:cxnLst/>
            <a:rect l="l" t="t" r="r" b="b"/>
            <a:pathLst>
              <a:path w="2281153" h="3544950">
                <a:moveTo>
                  <a:pt x="0" y="0"/>
                </a:moveTo>
                <a:lnTo>
                  <a:pt x="2281153" y="0"/>
                </a:lnTo>
                <a:lnTo>
                  <a:pt x="2281153" y="3544950"/>
                </a:lnTo>
                <a:lnTo>
                  <a:pt x="0" y="354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895225" y="4517692"/>
            <a:ext cx="304800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報告總覽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64117" y="1989275"/>
            <a:ext cx="6381584" cy="619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70752" lvl="1" indent="-635376" algn="l">
              <a:lnSpc>
                <a:spcPts val="8240"/>
              </a:lnSpc>
              <a:buAutoNum type="arabicPeriod"/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研究動機</a:t>
            </a:r>
          </a:p>
          <a:p>
            <a:pPr marL="1270752" lvl="1" indent="-635376" algn="l">
              <a:lnSpc>
                <a:spcPts val="8240"/>
              </a:lnSpc>
              <a:buAutoNum type="arabicPeriod"/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研究目的</a:t>
            </a:r>
          </a:p>
          <a:p>
            <a:pPr marL="1270752" lvl="1" indent="-635376" algn="l">
              <a:lnSpc>
                <a:spcPts val="8240"/>
              </a:lnSpc>
              <a:buAutoNum type="arabicPeriod"/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創新實作方法</a:t>
            </a:r>
          </a:p>
          <a:p>
            <a:pPr marL="1270752" lvl="1" indent="-635376" algn="l">
              <a:lnSpc>
                <a:spcPts val="8240"/>
              </a:lnSpc>
              <a:buAutoNum type="arabicPeriod"/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系統架構圖</a:t>
            </a:r>
          </a:p>
          <a:p>
            <a:pPr marL="1270752" lvl="1" indent="-635376" algn="l">
              <a:lnSpc>
                <a:spcPts val="8240"/>
              </a:lnSpc>
              <a:buAutoNum type="arabicPeriod"/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系統實作</a:t>
            </a:r>
          </a:p>
          <a:p>
            <a:pPr marL="1270752" lvl="1" indent="-635376" algn="l">
              <a:lnSpc>
                <a:spcPts val="8240"/>
              </a:lnSpc>
              <a:buAutoNum type="arabicPeriod"/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演算法分析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-4082745">
            <a:off x="-1472006" y="7439205"/>
            <a:ext cx="5248259" cy="5695590"/>
          </a:xfrm>
          <a:custGeom>
            <a:avLst/>
            <a:gdLst/>
            <a:ahLst/>
            <a:cxnLst/>
            <a:rect l="l" t="t" r="r" b="b"/>
            <a:pathLst>
              <a:path w="5248259" h="5695590">
                <a:moveTo>
                  <a:pt x="0" y="0"/>
                </a:moveTo>
                <a:lnTo>
                  <a:pt x="5248259" y="0"/>
                </a:lnTo>
                <a:lnTo>
                  <a:pt x="5248259" y="5695590"/>
                </a:lnTo>
                <a:lnTo>
                  <a:pt x="0" y="5695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8499379">
            <a:off x="14533923" y="-1139321"/>
            <a:ext cx="5091243" cy="4336042"/>
          </a:xfrm>
          <a:custGeom>
            <a:avLst/>
            <a:gdLst/>
            <a:ahLst/>
            <a:cxnLst/>
            <a:rect l="l" t="t" r="r" b="b"/>
            <a:pathLst>
              <a:path w="5091243" h="4336042">
                <a:moveTo>
                  <a:pt x="0" y="0"/>
                </a:moveTo>
                <a:lnTo>
                  <a:pt x="5091243" y="0"/>
                </a:lnTo>
                <a:lnTo>
                  <a:pt x="5091243" y="4336042"/>
                </a:lnTo>
                <a:lnTo>
                  <a:pt x="0" y="4336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5242255" y="6287061"/>
            <a:ext cx="2904387" cy="4458662"/>
          </a:xfrm>
          <a:custGeom>
            <a:avLst/>
            <a:gdLst/>
            <a:ahLst/>
            <a:cxnLst/>
            <a:rect l="l" t="t" r="r" b="b"/>
            <a:pathLst>
              <a:path w="2904387" h="4458662">
                <a:moveTo>
                  <a:pt x="0" y="0"/>
                </a:moveTo>
                <a:lnTo>
                  <a:pt x="2904387" y="0"/>
                </a:lnTo>
                <a:lnTo>
                  <a:pt x="2904387" y="4458662"/>
                </a:lnTo>
                <a:lnTo>
                  <a:pt x="0" y="4458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-1921503" y="-393211"/>
            <a:ext cx="6147254" cy="2078889"/>
          </a:xfrm>
          <a:custGeom>
            <a:avLst/>
            <a:gdLst/>
            <a:ahLst/>
            <a:cxnLst/>
            <a:rect l="l" t="t" r="r" b="b"/>
            <a:pathLst>
              <a:path w="6147254" h="2078889">
                <a:moveTo>
                  <a:pt x="0" y="0"/>
                </a:moveTo>
                <a:lnTo>
                  <a:pt x="6147253" y="0"/>
                </a:lnTo>
                <a:lnTo>
                  <a:pt x="6147253" y="2078890"/>
                </a:lnTo>
                <a:lnTo>
                  <a:pt x="0" y="20788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160865" y="1676154"/>
            <a:ext cx="396627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一.研究動機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97482" y="3487420"/>
            <a:ext cx="12293036" cy="324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在現代的生活中，人們經常面臨「今天吃什麼？」這個日常難題。特別是在面對眾多餐廳飲食選擇時，往往會讓用戶猶豫不決，浪費大量時間在選擇上。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基於這些需求，我們決定開發 EatNow ，通過隨機推薦和數據分析，為用戶提供方便的飲食決策輔助工具。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0958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93340" y="6332965"/>
            <a:ext cx="2952509" cy="4548684"/>
          </a:xfrm>
          <a:custGeom>
            <a:avLst/>
            <a:gdLst/>
            <a:ahLst/>
            <a:cxnLst/>
            <a:rect l="l" t="t" r="r" b="b"/>
            <a:pathLst>
              <a:path w="2952509" h="4548684">
                <a:moveTo>
                  <a:pt x="0" y="0"/>
                </a:moveTo>
                <a:lnTo>
                  <a:pt x="2952509" y="0"/>
                </a:lnTo>
                <a:lnTo>
                  <a:pt x="2952509" y="4548684"/>
                </a:lnTo>
                <a:lnTo>
                  <a:pt x="0" y="454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6897869">
            <a:off x="-2249484" y="-1802926"/>
            <a:ext cx="5730130" cy="4777205"/>
          </a:xfrm>
          <a:custGeom>
            <a:avLst/>
            <a:gdLst/>
            <a:ahLst/>
            <a:cxnLst/>
            <a:rect l="l" t="t" r="r" b="b"/>
            <a:pathLst>
              <a:path w="5730130" h="4777205">
                <a:moveTo>
                  <a:pt x="0" y="0"/>
                </a:moveTo>
                <a:lnTo>
                  <a:pt x="5730130" y="0"/>
                </a:lnTo>
                <a:lnTo>
                  <a:pt x="5730130" y="4777205"/>
                </a:lnTo>
                <a:lnTo>
                  <a:pt x="0" y="4777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-7281959">
            <a:off x="13594629" y="-745811"/>
            <a:ext cx="6798772" cy="4450105"/>
          </a:xfrm>
          <a:custGeom>
            <a:avLst/>
            <a:gdLst/>
            <a:ahLst/>
            <a:cxnLst/>
            <a:rect l="l" t="t" r="r" b="b"/>
            <a:pathLst>
              <a:path w="6798772" h="4450105">
                <a:moveTo>
                  <a:pt x="0" y="0"/>
                </a:moveTo>
                <a:lnTo>
                  <a:pt x="6798771" y="0"/>
                </a:lnTo>
                <a:lnTo>
                  <a:pt x="6798771" y="4450105"/>
                </a:lnTo>
                <a:lnTo>
                  <a:pt x="0" y="445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856548" y="1309017"/>
            <a:ext cx="1457490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二.研究目的</a:t>
            </a:r>
          </a:p>
        </p:txBody>
      </p:sp>
      <p:sp>
        <p:nvSpPr>
          <p:cNvPr id="8" name="Freeform 8"/>
          <p:cNvSpPr/>
          <p:nvPr/>
        </p:nvSpPr>
        <p:spPr>
          <a:xfrm>
            <a:off x="15913648" y="8111859"/>
            <a:ext cx="3472856" cy="2077399"/>
          </a:xfrm>
          <a:custGeom>
            <a:avLst/>
            <a:gdLst/>
            <a:ahLst/>
            <a:cxnLst/>
            <a:rect l="l" t="t" r="r" b="b"/>
            <a:pathLst>
              <a:path w="3472856" h="2077399">
                <a:moveTo>
                  <a:pt x="0" y="0"/>
                </a:moveTo>
                <a:lnTo>
                  <a:pt x="3472856" y="0"/>
                </a:lnTo>
                <a:lnTo>
                  <a:pt x="3472856" y="2077399"/>
                </a:lnTo>
                <a:lnTo>
                  <a:pt x="0" y="2077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535156" y="2363746"/>
            <a:ext cx="11217688" cy="5502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主要目標</a:t>
            </a:r>
          </a:p>
          <a:p>
            <a:pPr marL="673989" lvl="1" indent="-336994" algn="l">
              <a:lnSpc>
                <a:spcPts val="4370"/>
              </a:lnSpc>
              <a:buAutoNum type="arabicPeriod"/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解決選擇困難問題：提供隨機推薦功能，幫助用戶快速做出飲食決策</a:t>
            </a:r>
          </a:p>
          <a:p>
            <a:pPr marL="673989" lvl="1" indent="-336994" algn="l">
              <a:lnSpc>
                <a:spcPts val="4370"/>
              </a:lnSpc>
              <a:buAutoNum type="arabicPeriod"/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數據驅動決策：通過統計分析幫助用戶了解自己的飲食習慣</a:t>
            </a:r>
          </a:p>
          <a:p>
            <a:pPr marL="673989" lvl="1" indent="-336994" algn="l">
              <a:lnSpc>
                <a:spcPts val="4370"/>
              </a:lnSpc>
              <a:buAutoNum type="arabicPeriod"/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紀錄點餐項目：整合點餐、歷史追蹤功能於一體</a:t>
            </a:r>
          </a:p>
          <a:p>
            <a:pPr algn="l">
              <a:lnSpc>
                <a:spcPts val="4370"/>
              </a:lnSpc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具體目標</a:t>
            </a:r>
          </a:p>
          <a:p>
            <a:pPr marL="673989" lvl="1" indent="-336994" algn="l">
              <a:lnSpc>
                <a:spcPts val="4370"/>
              </a:lnSpc>
              <a:buAutoNum type="arabicPeriod"/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減少用戶在選擇食物時的決策時間</a:t>
            </a:r>
          </a:p>
          <a:p>
            <a:pPr marL="673989" lvl="1" indent="-336994" algn="l">
              <a:lnSpc>
                <a:spcPts val="4370"/>
              </a:lnSpc>
              <a:buAutoNum type="arabicPeriod"/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提高用戶對飲食選擇的滿意度</a:t>
            </a:r>
          </a:p>
          <a:p>
            <a:pPr marL="673989" lvl="1" indent="-336994" algn="l">
              <a:lnSpc>
                <a:spcPts val="4370"/>
              </a:lnSpc>
              <a:buAutoNum type="arabicPeriod"/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建立完整的個人飲食數據檔案</a:t>
            </a:r>
          </a:p>
          <a:p>
            <a:pPr marL="673989" lvl="1" indent="-336994" algn="l">
              <a:lnSpc>
                <a:spcPts val="4370"/>
              </a:lnSpc>
              <a:buAutoNum type="arabicPeriod"/>
            </a:pPr>
            <a:r>
              <a:rPr lang="en-US" sz="312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提供直觀的使用者介面和流暢的操作體驗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24245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-2097886">
            <a:off x="15249743" y="-867172"/>
            <a:ext cx="5162115" cy="4303651"/>
          </a:xfrm>
          <a:custGeom>
            <a:avLst/>
            <a:gdLst/>
            <a:ahLst/>
            <a:cxnLst/>
            <a:rect l="l" t="t" r="r" b="b"/>
            <a:pathLst>
              <a:path w="5162115" h="4303651">
                <a:moveTo>
                  <a:pt x="0" y="0"/>
                </a:moveTo>
                <a:lnTo>
                  <a:pt x="5162114" y="0"/>
                </a:lnTo>
                <a:lnTo>
                  <a:pt x="5162114" y="4303651"/>
                </a:lnTo>
                <a:lnTo>
                  <a:pt x="0" y="4303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4549130">
            <a:off x="-1577160" y="7170126"/>
            <a:ext cx="6380533" cy="4176349"/>
          </a:xfrm>
          <a:custGeom>
            <a:avLst/>
            <a:gdLst/>
            <a:ahLst/>
            <a:cxnLst/>
            <a:rect l="l" t="t" r="r" b="b"/>
            <a:pathLst>
              <a:path w="6380533" h="4176349">
                <a:moveTo>
                  <a:pt x="0" y="0"/>
                </a:moveTo>
                <a:lnTo>
                  <a:pt x="6380533" y="0"/>
                </a:lnTo>
                <a:lnTo>
                  <a:pt x="6380533" y="4176348"/>
                </a:lnTo>
                <a:lnTo>
                  <a:pt x="0" y="417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5862963" y="7044708"/>
            <a:ext cx="2281153" cy="3544950"/>
          </a:xfrm>
          <a:custGeom>
            <a:avLst/>
            <a:gdLst/>
            <a:ahLst/>
            <a:cxnLst/>
            <a:rect l="l" t="t" r="r" b="b"/>
            <a:pathLst>
              <a:path w="2281153" h="3544950">
                <a:moveTo>
                  <a:pt x="0" y="0"/>
                </a:moveTo>
                <a:lnTo>
                  <a:pt x="2281153" y="0"/>
                </a:lnTo>
                <a:lnTo>
                  <a:pt x="2281153" y="3544950"/>
                </a:lnTo>
                <a:lnTo>
                  <a:pt x="0" y="354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856548" y="1427528"/>
            <a:ext cx="1457490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三.創新實作方法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47306" y="2779962"/>
            <a:ext cx="11393389" cy="569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創新性</a:t>
            </a:r>
          </a:p>
          <a:p>
            <a:pPr marL="576886" lvl="1" indent="-288443" algn="just">
              <a:lnSpc>
                <a:spcPts val="3740"/>
              </a:lnSpc>
              <a:buFont typeface="Arial"/>
              <a:buChar char="•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創新的資料結構設計</a:t>
            </a:r>
          </a:p>
          <a:p>
            <a:pPr marL="576886" lvl="1" indent="-288443" algn="just">
              <a:lnSpc>
                <a:spcPts val="3740"/>
              </a:lnSpc>
              <a:buAutoNum type="arabicPeriod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單例模式資料管理：使用 DataStore 統一管理所有應用資料</a:t>
            </a:r>
          </a:p>
          <a:p>
            <a:pPr marL="576886" lvl="1" indent="-288443" algn="just">
              <a:lnSpc>
                <a:spcPts val="3740"/>
              </a:lnSpc>
              <a:buAutoNum type="arabicPeriod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響應式資料綁定：基於 SwiftUI 的 @Published 屬性實現即時更新</a:t>
            </a:r>
          </a:p>
          <a:p>
            <a:pPr marL="576886" lvl="1" indent="-288443" algn="just">
              <a:lnSpc>
                <a:spcPts val="3740"/>
              </a:lnSpc>
              <a:buAutoNum type="arabicPeriod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模組化架構：各功能模組獨立設計，降低耦合度</a:t>
            </a:r>
          </a:p>
          <a:p>
            <a:pPr algn="just">
              <a:lnSpc>
                <a:spcPts val="3740"/>
              </a:lnSpc>
            </a:pPr>
            <a:endParaRPr lang="en-US" sz="2672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just">
              <a:lnSpc>
                <a:spcPts val="3740"/>
              </a:lnSpc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實用性</a:t>
            </a:r>
          </a:p>
          <a:p>
            <a:pPr marL="576886" lvl="1" indent="-288443" algn="just">
              <a:lnSpc>
                <a:spcPts val="3740"/>
              </a:lnSpc>
              <a:buFont typeface="Arial"/>
              <a:buChar char="•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用戶體驗優化</a:t>
            </a:r>
          </a:p>
          <a:p>
            <a:pPr marL="576886" lvl="1" indent="-288443" algn="just">
              <a:lnSpc>
                <a:spcPts val="3740"/>
              </a:lnSpc>
              <a:buAutoNum type="arabicPeriod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一鍵推薦功能：單次點擊即可獲得推薦結果</a:t>
            </a:r>
          </a:p>
          <a:p>
            <a:pPr marL="576886" lvl="1" indent="-288443" algn="just">
              <a:lnSpc>
                <a:spcPts val="3740"/>
              </a:lnSpc>
              <a:buAutoNum type="arabicPeriod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視覺化統計分析：直觀展示用戶飲食數據和趨勢</a:t>
            </a:r>
          </a:p>
          <a:p>
            <a:pPr marL="576886" lvl="1" indent="-288443" algn="just">
              <a:lnSpc>
                <a:spcPts val="3740"/>
              </a:lnSpc>
              <a:buAutoNum type="arabicPeriod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離線數據存取：支援無網路環境下的完整功能使用</a:t>
            </a:r>
          </a:p>
          <a:p>
            <a:pPr marL="576886" lvl="1" indent="-288443" algn="just">
              <a:lnSpc>
                <a:spcPts val="3740"/>
              </a:lnSpc>
              <a:buAutoNum type="arabicPeriod"/>
            </a:pPr>
            <a:r>
              <a:rPr lang="en-US" sz="267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跨平台數據同步：透過 CSV 匯出入實現數據遷移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4549130">
            <a:off x="-1577160" y="7170126"/>
            <a:ext cx="6380533" cy="4176349"/>
          </a:xfrm>
          <a:custGeom>
            <a:avLst/>
            <a:gdLst/>
            <a:ahLst/>
            <a:cxnLst/>
            <a:rect l="l" t="t" r="r" b="b"/>
            <a:pathLst>
              <a:path w="6380533" h="4176349">
                <a:moveTo>
                  <a:pt x="0" y="0"/>
                </a:moveTo>
                <a:lnTo>
                  <a:pt x="6380533" y="0"/>
                </a:lnTo>
                <a:lnTo>
                  <a:pt x="6380533" y="4176348"/>
                </a:lnTo>
                <a:lnTo>
                  <a:pt x="0" y="41763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7368775">
            <a:off x="-1595429" y="-2329458"/>
            <a:ext cx="5248259" cy="5695590"/>
          </a:xfrm>
          <a:custGeom>
            <a:avLst/>
            <a:gdLst/>
            <a:ahLst/>
            <a:cxnLst/>
            <a:rect l="l" t="t" r="r" b="b"/>
            <a:pathLst>
              <a:path w="5248259" h="5695590">
                <a:moveTo>
                  <a:pt x="0" y="0"/>
                </a:moveTo>
                <a:lnTo>
                  <a:pt x="5248258" y="0"/>
                </a:lnTo>
                <a:lnTo>
                  <a:pt x="5248258" y="5695590"/>
                </a:lnTo>
                <a:lnTo>
                  <a:pt x="0" y="569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-2097886">
            <a:off x="14678243" y="8253015"/>
            <a:ext cx="5162115" cy="4303651"/>
          </a:xfrm>
          <a:custGeom>
            <a:avLst/>
            <a:gdLst/>
            <a:ahLst/>
            <a:cxnLst/>
            <a:rect l="l" t="t" r="r" b="b"/>
            <a:pathLst>
              <a:path w="5162115" h="4303651">
                <a:moveTo>
                  <a:pt x="0" y="0"/>
                </a:moveTo>
                <a:lnTo>
                  <a:pt x="5162114" y="0"/>
                </a:lnTo>
                <a:lnTo>
                  <a:pt x="5162114" y="4303651"/>
                </a:lnTo>
                <a:lnTo>
                  <a:pt x="0" y="430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7178953" y="1094956"/>
            <a:ext cx="8765454" cy="8097088"/>
          </a:xfrm>
          <a:custGeom>
            <a:avLst/>
            <a:gdLst/>
            <a:ahLst/>
            <a:cxnLst/>
            <a:rect l="l" t="t" r="r" b="b"/>
            <a:pathLst>
              <a:path w="8765454" h="8097088">
                <a:moveTo>
                  <a:pt x="0" y="0"/>
                </a:moveTo>
                <a:lnTo>
                  <a:pt x="8765454" y="0"/>
                </a:lnTo>
                <a:lnTo>
                  <a:pt x="8765454" y="8097088"/>
                </a:lnTo>
                <a:lnTo>
                  <a:pt x="0" y="80970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13107" y="4388830"/>
            <a:ext cx="478393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四.系統架構圖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709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8984001">
            <a:off x="-1388837" y="-1123126"/>
            <a:ext cx="5162115" cy="4303651"/>
          </a:xfrm>
          <a:custGeom>
            <a:avLst/>
            <a:gdLst/>
            <a:ahLst/>
            <a:cxnLst/>
            <a:rect l="l" t="t" r="r" b="b"/>
            <a:pathLst>
              <a:path w="5162115" h="4303651">
                <a:moveTo>
                  <a:pt x="0" y="0"/>
                </a:moveTo>
                <a:lnTo>
                  <a:pt x="5162115" y="0"/>
                </a:lnTo>
                <a:lnTo>
                  <a:pt x="5162115" y="4303652"/>
                </a:lnTo>
                <a:lnTo>
                  <a:pt x="0" y="430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flipH="1">
            <a:off x="145130" y="6457950"/>
            <a:ext cx="2904387" cy="4458662"/>
          </a:xfrm>
          <a:custGeom>
            <a:avLst/>
            <a:gdLst/>
            <a:ahLst/>
            <a:cxnLst/>
            <a:rect l="l" t="t" r="r" b="b"/>
            <a:pathLst>
              <a:path w="2904387" h="4458662">
                <a:moveTo>
                  <a:pt x="2904387" y="0"/>
                </a:moveTo>
                <a:lnTo>
                  <a:pt x="0" y="0"/>
                </a:lnTo>
                <a:lnTo>
                  <a:pt x="0" y="4458662"/>
                </a:lnTo>
                <a:lnTo>
                  <a:pt x="2904387" y="4458662"/>
                </a:lnTo>
                <a:lnTo>
                  <a:pt x="29043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192221" y="4572000"/>
            <a:ext cx="402193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五.系統實作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2903" y="1914525"/>
            <a:ext cx="9782152" cy="639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1. 推薦系統 (HomeView)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功能特色：提供食物和餐廳的智慧隨機推薦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技術實作：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實作個人模式和團體模式的差異化推薦邏輯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整合用戶歷史偏好數據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用戶體驗：一鍵獲得推薦，支援重新推薦和紀錄決策採納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2. 餐廳清單管理系統 (ShopViews)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功能特色：完整的餐廳和菜單 CRUD 操作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技術實作：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使用 SwiftUI 的導航系統實作多層級介面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支援 CSV 批量匯入餐廳資料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資料結構：Shop -&gt; MenuItem 的一對多關係設計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709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8984001">
            <a:off x="-1388837" y="-1123126"/>
            <a:ext cx="5162115" cy="4303651"/>
          </a:xfrm>
          <a:custGeom>
            <a:avLst/>
            <a:gdLst/>
            <a:ahLst/>
            <a:cxnLst/>
            <a:rect l="l" t="t" r="r" b="b"/>
            <a:pathLst>
              <a:path w="5162115" h="4303651">
                <a:moveTo>
                  <a:pt x="0" y="0"/>
                </a:moveTo>
                <a:lnTo>
                  <a:pt x="5162115" y="0"/>
                </a:lnTo>
                <a:lnTo>
                  <a:pt x="5162115" y="4303652"/>
                </a:lnTo>
                <a:lnTo>
                  <a:pt x="0" y="430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flipH="1">
            <a:off x="145130" y="6457950"/>
            <a:ext cx="2904387" cy="4458662"/>
          </a:xfrm>
          <a:custGeom>
            <a:avLst/>
            <a:gdLst/>
            <a:ahLst/>
            <a:cxnLst/>
            <a:rect l="l" t="t" r="r" b="b"/>
            <a:pathLst>
              <a:path w="2904387" h="4458662">
                <a:moveTo>
                  <a:pt x="2904387" y="0"/>
                </a:moveTo>
                <a:lnTo>
                  <a:pt x="0" y="0"/>
                </a:lnTo>
                <a:lnTo>
                  <a:pt x="0" y="4458662"/>
                </a:lnTo>
                <a:lnTo>
                  <a:pt x="2904387" y="4458662"/>
                </a:lnTo>
                <a:lnTo>
                  <a:pt x="29043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192221" y="4572000"/>
            <a:ext cx="402193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五.系統實作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79913" y="1624012"/>
            <a:ext cx="7620000" cy="692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3. </a:t>
            </a: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點餐歷史系統</a:t>
            </a: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(</a:t>
            </a: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OrderViews</a:t>
            </a: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功能特色：完整的點餐流程和歷史管理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技術實作</a:t>
            </a: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：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實作購物車模式的點餐紀錄邏輯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整合氣泡排序和循序搜尋演算法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演算法應用：詳細說明見下方演算法分析章節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4. </a:t>
            </a: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統計分析系統</a:t>
            </a: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(</a:t>
            </a: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StatsView</a:t>
            </a: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功能特色：多維度的數據分析和視覺化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技術實作</a:t>
            </a: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：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使用</a:t>
            </a:r>
            <a:r>
              <a:rPr lang="en-US" sz="30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Chart </a:t>
            </a: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框架繪製統計圖表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實作成就系統激勵用戶參與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提供個人和團體模式的分別統計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數據洞察：幫助用戶理解飲食偏好</a:t>
            </a:r>
            <a:endParaRPr lang="en-US" sz="30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2152226">
            <a:off x="15012073" y="-859490"/>
            <a:ext cx="5730130" cy="4777205"/>
          </a:xfrm>
          <a:custGeom>
            <a:avLst/>
            <a:gdLst/>
            <a:ahLst/>
            <a:cxnLst/>
            <a:rect l="l" t="t" r="r" b="b"/>
            <a:pathLst>
              <a:path w="5730130" h="4777205">
                <a:moveTo>
                  <a:pt x="0" y="0"/>
                </a:moveTo>
                <a:lnTo>
                  <a:pt x="5730130" y="0"/>
                </a:lnTo>
                <a:lnTo>
                  <a:pt x="5730130" y="4777205"/>
                </a:lnTo>
                <a:lnTo>
                  <a:pt x="0" y="4777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-917278" y="461838"/>
            <a:ext cx="3472856" cy="2077399"/>
          </a:xfrm>
          <a:custGeom>
            <a:avLst/>
            <a:gdLst/>
            <a:ahLst/>
            <a:cxnLst/>
            <a:rect l="l" t="t" r="r" b="b"/>
            <a:pathLst>
              <a:path w="3472856" h="2077399">
                <a:moveTo>
                  <a:pt x="0" y="0"/>
                </a:moveTo>
                <a:lnTo>
                  <a:pt x="3472856" y="0"/>
                </a:lnTo>
                <a:lnTo>
                  <a:pt x="3472856" y="2077399"/>
                </a:lnTo>
                <a:lnTo>
                  <a:pt x="0" y="2077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9919994" y="4215637"/>
            <a:ext cx="5799135" cy="4719095"/>
          </a:xfrm>
          <a:custGeom>
            <a:avLst/>
            <a:gdLst/>
            <a:ahLst/>
            <a:cxnLst/>
            <a:rect l="l" t="t" r="r" b="b"/>
            <a:pathLst>
              <a:path w="5799135" h="4719095">
                <a:moveTo>
                  <a:pt x="0" y="0"/>
                </a:moveTo>
                <a:lnTo>
                  <a:pt x="5799134" y="0"/>
                </a:lnTo>
                <a:lnTo>
                  <a:pt x="5799134" y="4719095"/>
                </a:lnTo>
                <a:lnTo>
                  <a:pt x="0" y="47190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97924" y="1386238"/>
            <a:ext cx="16230600" cy="100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0"/>
              </a:lnSpc>
              <a:spcBef>
                <a:spcPct val="0"/>
              </a:spcBef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六.演算法分析_氣泡排序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4013" y="2740475"/>
            <a:ext cx="1464349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氣泡排序是一種簡單的排序演算法，通過重複遍歷要排序的數列，比較相鄰元素並交換位置，使較大（或較小）的元素像氣泡一樣浮到數列的一端。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4013" y="4679710"/>
            <a:ext cx="8001000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演算法運作流程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輸入驗證：檢查搜尋金額是否為有效數字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結果初始化：清空之前的搜尋結果陣列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循序遍歷：從索引 0 開始遍歷所有訂單記錄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條件比較：將每筆訂單的總金額與目標金額比較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結果收集：將符合條件的訂單加入結果陣列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狀態更新：設定顯示搜尋結果的標誌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Freeform 4"/>
          <p:cNvSpPr/>
          <p:nvPr/>
        </p:nvSpPr>
        <p:spPr>
          <a:xfrm rot="2152226">
            <a:off x="15012073" y="-859490"/>
            <a:ext cx="5730130" cy="4777205"/>
          </a:xfrm>
          <a:custGeom>
            <a:avLst/>
            <a:gdLst/>
            <a:ahLst/>
            <a:cxnLst/>
            <a:rect l="l" t="t" r="r" b="b"/>
            <a:pathLst>
              <a:path w="5730130" h="4777205">
                <a:moveTo>
                  <a:pt x="0" y="0"/>
                </a:moveTo>
                <a:lnTo>
                  <a:pt x="5730130" y="0"/>
                </a:lnTo>
                <a:lnTo>
                  <a:pt x="5730130" y="4777205"/>
                </a:lnTo>
                <a:lnTo>
                  <a:pt x="0" y="4777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-917278" y="461838"/>
            <a:ext cx="3472856" cy="2077399"/>
          </a:xfrm>
          <a:custGeom>
            <a:avLst/>
            <a:gdLst/>
            <a:ahLst/>
            <a:cxnLst/>
            <a:rect l="l" t="t" r="r" b="b"/>
            <a:pathLst>
              <a:path w="3472856" h="2077399">
                <a:moveTo>
                  <a:pt x="0" y="0"/>
                </a:moveTo>
                <a:lnTo>
                  <a:pt x="3472856" y="0"/>
                </a:lnTo>
                <a:lnTo>
                  <a:pt x="3472856" y="2077399"/>
                </a:lnTo>
                <a:lnTo>
                  <a:pt x="0" y="2077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0565198" y="4216850"/>
            <a:ext cx="6110897" cy="4511246"/>
          </a:xfrm>
          <a:custGeom>
            <a:avLst/>
            <a:gdLst/>
            <a:ahLst/>
            <a:cxnLst/>
            <a:rect l="l" t="t" r="r" b="b"/>
            <a:pathLst>
              <a:path w="6110897" h="4511246">
                <a:moveTo>
                  <a:pt x="0" y="0"/>
                </a:moveTo>
                <a:lnTo>
                  <a:pt x="6110897" y="0"/>
                </a:lnTo>
                <a:lnTo>
                  <a:pt x="6110897" y="4511246"/>
                </a:lnTo>
                <a:lnTo>
                  <a:pt x="0" y="4511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97924" y="1386238"/>
            <a:ext cx="16230600" cy="100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0"/>
              </a:lnSpc>
              <a:spcBef>
                <a:spcPct val="0"/>
              </a:spcBef>
            </a:pPr>
            <a:r>
              <a:rPr lang="en-US" sz="588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六.演算法分析_循序搜尋法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4013" y="2740475"/>
            <a:ext cx="1464349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循序搜尋（線性搜尋）是最基本的搜尋演算法，從數列的第一個元素開始，逐一檢查每個元素，直到找到目標值或搜尋完整個數列。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4013" y="4148962"/>
            <a:ext cx="8648700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演算法運作流程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輸入驗證：檢查搜尋金額是否為有效數字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結果初始化：清空之前的搜尋結果陣列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循序遍歷：從索引 0 開始遍歷所有訂單記錄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條件比較：將每筆訂單的總金額與目標金額比較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結果收集：將符合條件的訂單加入結果陣列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狀態更新：設定顯示搜尋結果的標誌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17532556" cy="8889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32556" cy="8889747"/>
            </a:xfrm>
            <a:custGeom>
              <a:avLst/>
              <a:gdLst/>
              <a:ahLst/>
              <a:cxnLst/>
              <a:rect l="l" t="t" r="r" b="b"/>
              <a:pathLst>
                <a:path w="17532556" h="8889747">
                  <a:moveTo>
                    <a:pt x="1722775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584947"/>
                  </a:lnTo>
                  <a:cubicBezTo>
                    <a:pt x="0" y="8753856"/>
                    <a:pt x="135890" y="8889747"/>
                    <a:pt x="304800" y="8889747"/>
                  </a:cubicBezTo>
                  <a:lnTo>
                    <a:pt x="17227756" y="8889747"/>
                  </a:lnTo>
                  <a:cubicBezTo>
                    <a:pt x="17396665" y="8889747"/>
                    <a:pt x="17532556" y="8753856"/>
                    <a:pt x="17532556" y="8584947"/>
                  </a:cubicBezTo>
                  <a:lnTo>
                    <a:pt x="17532556" y="304800"/>
                  </a:lnTo>
                  <a:cubicBezTo>
                    <a:pt x="17532556" y="135890"/>
                    <a:pt x="17396665" y="0"/>
                    <a:pt x="17227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002987" y="4184650"/>
            <a:ext cx="10475512" cy="171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謝謝觀看</a:t>
            </a:r>
          </a:p>
        </p:txBody>
      </p:sp>
      <p:sp>
        <p:nvSpPr>
          <p:cNvPr id="5" name="Freeform 5"/>
          <p:cNvSpPr/>
          <p:nvPr/>
        </p:nvSpPr>
        <p:spPr>
          <a:xfrm rot="2152226">
            <a:off x="15012073" y="-859490"/>
            <a:ext cx="5730130" cy="4777205"/>
          </a:xfrm>
          <a:custGeom>
            <a:avLst/>
            <a:gdLst/>
            <a:ahLst/>
            <a:cxnLst/>
            <a:rect l="l" t="t" r="r" b="b"/>
            <a:pathLst>
              <a:path w="5730130" h="4777205">
                <a:moveTo>
                  <a:pt x="0" y="0"/>
                </a:moveTo>
                <a:lnTo>
                  <a:pt x="5730130" y="0"/>
                </a:lnTo>
                <a:lnTo>
                  <a:pt x="5730130" y="4777205"/>
                </a:lnTo>
                <a:lnTo>
                  <a:pt x="0" y="4777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-621784">
            <a:off x="-1000117" y="7224893"/>
            <a:ext cx="5248259" cy="5695590"/>
          </a:xfrm>
          <a:custGeom>
            <a:avLst/>
            <a:gdLst/>
            <a:ahLst/>
            <a:cxnLst/>
            <a:rect l="l" t="t" r="r" b="b"/>
            <a:pathLst>
              <a:path w="5248259" h="5695590">
                <a:moveTo>
                  <a:pt x="0" y="0"/>
                </a:moveTo>
                <a:lnTo>
                  <a:pt x="5248259" y="0"/>
                </a:lnTo>
                <a:lnTo>
                  <a:pt x="5248259" y="5695589"/>
                </a:lnTo>
                <a:lnTo>
                  <a:pt x="0" y="5695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-917278" y="461838"/>
            <a:ext cx="3472856" cy="2077399"/>
          </a:xfrm>
          <a:custGeom>
            <a:avLst/>
            <a:gdLst/>
            <a:ahLst/>
            <a:cxnLst/>
            <a:rect l="l" t="t" r="r" b="b"/>
            <a:pathLst>
              <a:path w="3472856" h="2077399">
                <a:moveTo>
                  <a:pt x="0" y="0"/>
                </a:moveTo>
                <a:lnTo>
                  <a:pt x="3472856" y="0"/>
                </a:lnTo>
                <a:lnTo>
                  <a:pt x="3472856" y="2077399"/>
                </a:lnTo>
                <a:lnTo>
                  <a:pt x="0" y="2077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13997910" y="6092710"/>
            <a:ext cx="2930614" cy="4498925"/>
          </a:xfrm>
          <a:custGeom>
            <a:avLst/>
            <a:gdLst/>
            <a:ahLst/>
            <a:cxnLst/>
            <a:rect l="l" t="t" r="r" b="b"/>
            <a:pathLst>
              <a:path w="2930614" h="4498925">
                <a:moveTo>
                  <a:pt x="0" y="0"/>
                </a:moveTo>
                <a:lnTo>
                  <a:pt x="2930614" y="0"/>
                </a:lnTo>
                <a:lnTo>
                  <a:pt x="2930614" y="4498925"/>
                </a:lnTo>
                <a:lnTo>
                  <a:pt x="0" y="4498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Macintosh PowerPoint</Application>
  <PresentationFormat>自訂</PresentationFormat>
  <Paragraphs>87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Marcellus</vt:lpstr>
      <vt:lpstr>Arial</vt:lpstr>
      <vt:lpstr>Noto Sans T Chinese</vt:lpstr>
      <vt:lpstr>Roboto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Syllabus</dc:title>
  <cp:lastModifiedBy>來恩 羅</cp:lastModifiedBy>
  <cp:revision>2</cp:revision>
  <dcterms:created xsi:type="dcterms:W3CDTF">2006-08-16T00:00:00Z</dcterms:created>
  <dcterms:modified xsi:type="dcterms:W3CDTF">2025-06-16T00:56:49Z</dcterms:modified>
  <dc:identifier>DAGnMU5faXA</dc:identifier>
</cp:coreProperties>
</file>